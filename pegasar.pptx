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973ba393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973ba393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973ba3935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973ba3935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973ba3935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973ba3935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973ba393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973ba393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973ba3935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973ba3935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973ba3935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973ba3935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973ba3935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973ba3935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973ba3935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973ba3935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973ba3935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973ba3935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71100" y="95000"/>
            <a:ext cx="8520600" cy="98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Pegasus</a:t>
            </a:r>
            <a:endParaRPr sz="4900"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2705600"/>
            <a:ext cx="8520600" cy="185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Track 03</a:t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Levi Dial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1591350"/>
            <a:ext cx="8520600" cy="98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 strike="sngStrike">
                <a:solidFill>
                  <a:srgbClr val="FF0000"/>
                </a:solidFill>
              </a:rPr>
              <a:t>Pegasus</a:t>
            </a:r>
            <a:endParaRPr sz="4900" strike="sngStrike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00" strike="sngStrike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PegaSARs</a:t>
            </a:r>
            <a:endParaRPr sz="4900"/>
          </a:p>
        </p:txBody>
      </p:sp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0" y="2985475"/>
            <a:ext cx="8520600" cy="15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Track 03</a:t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Levi Dial</a:t>
            </a:r>
            <a:endParaRPr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0" y="1591350"/>
            <a:ext cx="8520600" cy="98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Pega{SAR}s</a:t>
            </a:r>
            <a:endParaRPr sz="4900" strike="sngStrike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 strike="sngStrike">
                <a:solidFill>
                  <a:srgbClr val="FF0000"/>
                </a:solidFill>
              </a:rPr>
              <a:t>Synthetic Aperture Radar</a:t>
            </a:r>
            <a:endParaRPr sz="4900" strike="sngStrike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 strike="sngStrike">
                <a:solidFill>
                  <a:srgbClr val="FF0000"/>
                </a:solidFill>
              </a:rPr>
              <a:t>Search and Rescue</a:t>
            </a:r>
            <a:endParaRPr sz="4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ctrTitle"/>
          </p:nvPr>
        </p:nvSpPr>
        <p:spPr>
          <a:xfrm>
            <a:off x="311700" y="1591350"/>
            <a:ext cx="8520600" cy="98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Pega{SAR}s</a:t>
            </a:r>
            <a:endParaRPr sz="4900" strike="sngStrike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 strike="sngStrike">
                <a:solidFill>
                  <a:srgbClr val="FF0000"/>
                </a:solidFill>
              </a:rPr>
              <a:t>Synthetic Aperture Radar</a:t>
            </a:r>
            <a:endParaRPr sz="4900" strike="sngStrike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 strike="sngStrike">
                <a:solidFill>
                  <a:srgbClr val="FF0000"/>
                </a:solidFill>
              </a:rPr>
              <a:t>Search and Rescue</a:t>
            </a:r>
            <a:endParaRPr sz="4900"/>
          </a:p>
        </p:txBody>
      </p:sp>
      <p:sp>
        <p:nvSpPr>
          <p:cNvPr id="72" name="Google Shape;72;p16"/>
          <p:cNvSpPr txBox="1"/>
          <p:nvPr>
            <p:ph type="ctrTitle"/>
          </p:nvPr>
        </p:nvSpPr>
        <p:spPr>
          <a:xfrm>
            <a:off x="430550" y="2727750"/>
            <a:ext cx="8520600" cy="98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Suspicious</a:t>
            </a:r>
            <a:r>
              <a:rPr lang="en" sz="4900"/>
              <a:t> Activity Reports</a:t>
            </a:r>
            <a:endParaRPr sz="4900"/>
          </a:p>
        </p:txBody>
      </p:sp>
      <p:sp>
        <p:nvSpPr>
          <p:cNvPr id="73" name="Google Shape;73;p16"/>
          <p:cNvSpPr txBox="1"/>
          <p:nvPr/>
        </p:nvSpPr>
        <p:spPr>
          <a:xfrm>
            <a:off x="3405050" y="3708150"/>
            <a:ext cx="25716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Using Pegasus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 title="stlhack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901" y="235550"/>
            <a:ext cx="658339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ctrTitle"/>
          </p:nvPr>
        </p:nvSpPr>
        <p:spPr>
          <a:xfrm>
            <a:off x="311700" y="0"/>
            <a:ext cx="8520600" cy="98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Performance</a:t>
            </a:r>
            <a:endParaRPr sz="5000"/>
          </a:p>
        </p:txBody>
      </p:sp>
      <p:sp>
        <p:nvSpPr>
          <p:cNvPr id="84" name="Google Shape;84;p18"/>
          <p:cNvSpPr txBox="1"/>
          <p:nvPr>
            <p:ph type="ctrTitle"/>
          </p:nvPr>
        </p:nvSpPr>
        <p:spPr>
          <a:xfrm>
            <a:off x="311700" y="3779350"/>
            <a:ext cx="8520600" cy="126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2 SARs were generated out of 4 total vehicles violating access authorization </a:t>
            </a:r>
            <a:r>
              <a:rPr b="1" lang="en" sz="2600"/>
              <a:t>50%</a:t>
            </a:r>
            <a:endParaRPr b="1"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One of these SAR descriptions mentioned two </a:t>
            </a:r>
            <a:r>
              <a:rPr lang="en" sz="2600"/>
              <a:t>vehicles</a:t>
            </a:r>
            <a:r>
              <a:rPr lang="en" sz="2600"/>
              <a:t> violating access authorization </a:t>
            </a:r>
            <a:r>
              <a:rPr b="1" lang="en" sz="2600"/>
              <a:t>75%</a:t>
            </a:r>
            <a:r>
              <a:rPr lang="en" sz="2600"/>
              <a:t>?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Two vehicles entered the campus on the roadway that was defined as approved access and no SARs were generated for these vehicles!</a:t>
            </a:r>
            <a:br>
              <a:rPr lang="en" sz="2600"/>
            </a:b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Overall 4/6 (</a:t>
            </a:r>
            <a:r>
              <a:rPr b="1" lang="en" sz="2800">
                <a:solidFill>
                  <a:schemeClr val="dk2"/>
                </a:solidFill>
              </a:rPr>
              <a:t>66.67%</a:t>
            </a:r>
            <a:r>
              <a:rPr lang="en" sz="2800">
                <a:solidFill>
                  <a:schemeClr val="dk2"/>
                </a:solidFill>
              </a:rPr>
              <a:t>) or 5/6 (</a:t>
            </a:r>
            <a:r>
              <a:rPr b="1" lang="en" sz="2800">
                <a:solidFill>
                  <a:schemeClr val="dk2"/>
                </a:solidFill>
              </a:rPr>
              <a:t>83.33%</a:t>
            </a:r>
            <a:r>
              <a:rPr lang="en" sz="2800">
                <a:solidFill>
                  <a:schemeClr val="dk2"/>
                </a:solidFill>
              </a:rPr>
              <a:t>)  activities correctly identified.</a:t>
            </a:r>
            <a:endParaRPr sz="2600"/>
          </a:p>
        </p:txBody>
      </p:sp>
      <p:sp>
        <p:nvSpPr>
          <p:cNvPr id="85" name="Google Shape;85;p18"/>
          <p:cNvSpPr txBox="1"/>
          <p:nvPr/>
        </p:nvSpPr>
        <p:spPr>
          <a:xfrm>
            <a:off x="1312650" y="4025350"/>
            <a:ext cx="65187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ctrTitle"/>
          </p:nvPr>
        </p:nvSpPr>
        <p:spPr>
          <a:xfrm>
            <a:off x="311700" y="106925"/>
            <a:ext cx="8520600" cy="98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Limitations</a:t>
            </a:r>
            <a:endParaRPr sz="5000"/>
          </a:p>
        </p:txBody>
      </p:sp>
      <p:sp>
        <p:nvSpPr>
          <p:cNvPr id="91" name="Google Shape;91;p19"/>
          <p:cNvSpPr txBox="1"/>
          <p:nvPr>
            <p:ph type="ctrTitle"/>
          </p:nvPr>
        </p:nvSpPr>
        <p:spPr>
          <a:xfrm>
            <a:off x="371075" y="3275650"/>
            <a:ext cx="8520600" cy="177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Current ruleset is rudimentary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" sz="2800"/>
              <a:t>Natural language from pegasus &lt;-&gt; natural language ruleset &lt;-&gt; what happens in the video could potentially be improved with Merango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Structuring the output from pegasus for fields of interest is a critical step of the process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" sz="2800"/>
              <a:t>Relies on resolution of information available in video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ctrTitle"/>
          </p:nvPr>
        </p:nvSpPr>
        <p:spPr>
          <a:xfrm>
            <a:off x="311700" y="106925"/>
            <a:ext cx="8520600" cy="98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Key Characteristics</a:t>
            </a:r>
            <a:endParaRPr sz="5000"/>
          </a:p>
        </p:txBody>
      </p:sp>
      <p:sp>
        <p:nvSpPr>
          <p:cNvPr id="97" name="Google Shape;97;p20"/>
          <p:cNvSpPr txBox="1"/>
          <p:nvPr>
            <p:ph type="ctrTitle"/>
          </p:nvPr>
        </p:nvSpPr>
        <p:spPr>
          <a:xfrm>
            <a:off x="371075" y="3275650"/>
            <a:ext cx="8520600" cy="177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Trajectory based rules leverage video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" sz="2800"/>
              <a:t>Vehicles should not be heading TOWARD </a:t>
            </a:r>
            <a:r>
              <a:rPr lang="en" sz="2800"/>
              <a:t>headquarters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" sz="2800"/>
              <a:t>Vehicles should only be </a:t>
            </a:r>
            <a:r>
              <a:rPr lang="en" sz="2800"/>
              <a:t>inbound on the access road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Natural language rulesetting enables high frequency iteration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" sz="2800"/>
              <a:t>Not required to build a large CV dataset of annotated activities for each look angle</a:t>
            </a:r>
            <a:endParaRPr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ctrTitle"/>
          </p:nvPr>
        </p:nvSpPr>
        <p:spPr>
          <a:xfrm>
            <a:off x="311700" y="106925"/>
            <a:ext cx="8520600" cy="98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Key Characteristics</a:t>
            </a:r>
            <a:endParaRPr sz="5000"/>
          </a:p>
        </p:txBody>
      </p:sp>
      <p:sp>
        <p:nvSpPr>
          <p:cNvPr id="103" name="Google Shape;103;p21"/>
          <p:cNvSpPr txBox="1"/>
          <p:nvPr>
            <p:ph type="ctrTitle"/>
          </p:nvPr>
        </p:nvSpPr>
        <p:spPr>
          <a:xfrm>
            <a:off x="438150" y="2716575"/>
            <a:ext cx="8520600" cy="177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Text output from flagged and unflagged activities can be used to revise authorization ruleset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Scalable </a:t>
            </a:r>
            <a:r>
              <a:rPr lang="en" sz="2800"/>
              <a:t>compared</a:t>
            </a:r>
            <a:r>
              <a:rPr lang="en" sz="2800"/>
              <a:t> to manpower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" sz="2800"/>
              <a:t>Many feeds from many sites could be monitored at once 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" sz="2800"/>
              <a:t>Human only required to review SARs</a:t>
            </a:r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09" name="Google Shape;109;p22"/>
          <p:cNvSpPr txBox="1"/>
          <p:nvPr>
            <p:ph idx="1" type="subTitle"/>
          </p:nvPr>
        </p:nvSpPr>
        <p:spPr>
          <a:xfrm>
            <a:off x="311700" y="38851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