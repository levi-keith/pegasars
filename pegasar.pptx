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973ba3935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973ba3935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973ba3935_0_3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973ba3935_0_3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3d973ba3935_0_2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3d973ba3935_0_2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973ba3935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973ba3935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3d973ba3935_0_3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" name="Google Shape;81;g3d973ba3935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973ba3935_0_3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7" name="Google Shape;87;g3d973ba3935_0_3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d973ba3935_0_3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d973ba3935_0_3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g3d973ba3935_0_34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" name="Google Shape;99;g3d973ba3935_0_34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973ba3935_0_3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973ba3935_0_3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d973ba3935_0_3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3d973ba3935_0_3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71100" y="95000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/>
              <a:t>Pegasus</a:t>
            </a:r>
            <a:endParaRPr sz="4900"/>
          </a:p>
        </p:txBody>
      </p:sp>
      <p:sp>
        <p:nvSpPr>
          <p:cNvPr id="55" name="Google Shape;55;p13"/>
          <p:cNvSpPr txBox="1"/>
          <p:nvPr>
            <p:ph type="ctrTitle"/>
          </p:nvPr>
        </p:nvSpPr>
        <p:spPr>
          <a:xfrm>
            <a:off x="311700" y="2705600"/>
            <a:ext cx="8520600" cy="1854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Track 03</a:t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Levi Dial</a:t>
            </a:r>
            <a:endParaRPr sz="32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ctrTitle"/>
          </p:nvPr>
        </p:nvSpPr>
        <p:spPr>
          <a:xfrm>
            <a:off x="311700" y="1591350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strike="sngStrike">
                <a:solidFill>
                  <a:srgbClr val="FF0000"/>
                </a:solidFill>
              </a:rPr>
              <a:t>Pegasus</a:t>
            </a:r>
            <a:endParaRPr sz="4900" strike="sngStrike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900" strike="sngStrike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/>
              <a:t>PegaSARs</a:t>
            </a:r>
            <a:endParaRPr sz="4900"/>
          </a:p>
        </p:txBody>
      </p:sp>
      <p:sp>
        <p:nvSpPr>
          <p:cNvPr id="61" name="Google Shape;61;p14"/>
          <p:cNvSpPr txBox="1"/>
          <p:nvPr>
            <p:ph type="ctrTitle"/>
          </p:nvPr>
        </p:nvSpPr>
        <p:spPr>
          <a:xfrm>
            <a:off x="311700" y="2985475"/>
            <a:ext cx="8520600" cy="1574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Track 03</a:t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2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200"/>
              <a:t>Levi Dial</a:t>
            </a:r>
            <a:endParaRPr sz="32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ctrTitle"/>
          </p:nvPr>
        </p:nvSpPr>
        <p:spPr>
          <a:xfrm>
            <a:off x="311700" y="1591350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/>
              <a:t>Pega{SAR}s</a:t>
            </a:r>
            <a:endParaRPr sz="4900" strike="sngStrike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strike="sngStrike">
                <a:solidFill>
                  <a:srgbClr val="FF0000"/>
                </a:solidFill>
              </a:rPr>
              <a:t>Synthetic Aperture Radar</a:t>
            </a:r>
            <a:endParaRPr sz="4900" strike="sngStrike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strike="sngStrike">
                <a:solidFill>
                  <a:srgbClr val="FF0000"/>
                </a:solidFill>
              </a:rPr>
              <a:t>Search and Rescue</a:t>
            </a:r>
            <a:endParaRPr sz="49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6"/>
          <p:cNvSpPr txBox="1"/>
          <p:nvPr>
            <p:ph type="ctrTitle"/>
          </p:nvPr>
        </p:nvSpPr>
        <p:spPr>
          <a:xfrm>
            <a:off x="311700" y="1591350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/>
              <a:t>Pega{SAR}s</a:t>
            </a:r>
            <a:endParaRPr sz="4900" strike="sngStrike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strike="sngStrike">
                <a:solidFill>
                  <a:srgbClr val="FF0000"/>
                </a:solidFill>
              </a:rPr>
              <a:t>Synthetic Aperture Radar</a:t>
            </a:r>
            <a:endParaRPr sz="4900" strike="sngStrike">
              <a:solidFill>
                <a:srgbClr val="FF0000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 strike="sngStrike">
                <a:solidFill>
                  <a:srgbClr val="FF0000"/>
                </a:solidFill>
              </a:rPr>
              <a:t>Search and Rescue</a:t>
            </a:r>
            <a:endParaRPr sz="4900"/>
          </a:p>
        </p:txBody>
      </p:sp>
      <p:sp>
        <p:nvSpPr>
          <p:cNvPr id="72" name="Google Shape;72;p16"/>
          <p:cNvSpPr txBox="1"/>
          <p:nvPr>
            <p:ph type="ctrTitle"/>
          </p:nvPr>
        </p:nvSpPr>
        <p:spPr>
          <a:xfrm>
            <a:off x="430550" y="2727750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4900"/>
              <a:t>Suspicious</a:t>
            </a:r>
            <a:r>
              <a:rPr lang="en" sz="4900"/>
              <a:t> Activity Reports</a:t>
            </a:r>
            <a:endParaRPr sz="4900"/>
          </a:p>
        </p:txBody>
      </p:sp>
      <p:sp>
        <p:nvSpPr>
          <p:cNvPr id="73" name="Google Shape;73;p16"/>
          <p:cNvSpPr txBox="1"/>
          <p:nvPr/>
        </p:nvSpPr>
        <p:spPr>
          <a:xfrm>
            <a:off x="3405050" y="3708150"/>
            <a:ext cx="2571600" cy="872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dk2"/>
                </a:solidFill>
              </a:rPr>
              <a:t>Using Pegasus</a:t>
            </a:r>
            <a:endParaRPr sz="2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21212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" name="Google Shape;78;p17" title="stlhack.drawio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056901" y="235550"/>
            <a:ext cx="6583399" cy="48387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18"/>
          <p:cNvSpPr txBox="1"/>
          <p:nvPr>
            <p:ph type="ctrTitle"/>
          </p:nvPr>
        </p:nvSpPr>
        <p:spPr>
          <a:xfrm>
            <a:off x="311700" y="106925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Key Characteristics</a:t>
            </a:r>
            <a:endParaRPr sz="5000"/>
          </a:p>
        </p:txBody>
      </p:sp>
      <p:sp>
        <p:nvSpPr>
          <p:cNvPr id="84" name="Google Shape;84;p18"/>
          <p:cNvSpPr txBox="1"/>
          <p:nvPr>
            <p:ph type="ctrTitle"/>
          </p:nvPr>
        </p:nvSpPr>
        <p:spPr>
          <a:xfrm>
            <a:off x="371075" y="3275650"/>
            <a:ext cx="8520600" cy="177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Trajectory based rules leverage video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Vehicles should not be heading TOWARD </a:t>
            </a:r>
            <a:r>
              <a:rPr lang="en" sz="2800"/>
              <a:t>headquarters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Vehicles should only be </a:t>
            </a:r>
            <a:r>
              <a:rPr lang="en" sz="2800"/>
              <a:t>inbound on the access road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Natural language rulesetting enables high frequency iteration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Not required to build a large CV dataset of annotated activities for each look angle</a:t>
            </a:r>
            <a:endParaRPr sz="28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9"/>
          <p:cNvSpPr txBox="1"/>
          <p:nvPr>
            <p:ph type="ctrTitle"/>
          </p:nvPr>
        </p:nvSpPr>
        <p:spPr>
          <a:xfrm>
            <a:off x="311700" y="106925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Key Characteristics</a:t>
            </a:r>
            <a:endParaRPr sz="5000"/>
          </a:p>
        </p:txBody>
      </p:sp>
      <p:sp>
        <p:nvSpPr>
          <p:cNvPr id="90" name="Google Shape;90;p19"/>
          <p:cNvSpPr txBox="1"/>
          <p:nvPr>
            <p:ph type="ctrTitle"/>
          </p:nvPr>
        </p:nvSpPr>
        <p:spPr>
          <a:xfrm>
            <a:off x="438150" y="2716575"/>
            <a:ext cx="8520600" cy="177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Text output from flagged and unflagged activities can be used to revise authorization ruleset</a:t>
            </a:r>
            <a:endParaRPr sz="28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Scalable </a:t>
            </a:r>
            <a:r>
              <a:rPr lang="en" sz="2800"/>
              <a:t>compared</a:t>
            </a:r>
            <a:r>
              <a:rPr lang="en" sz="2800"/>
              <a:t> to manpower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Many feeds from many sites could be monitored at once 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Human only required to review SARs</a:t>
            </a:r>
            <a:endParaRPr sz="28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0"/>
          <p:cNvSpPr txBox="1"/>
          <p:nvPr>
            <p:ph type="ctrTitle"/>
          </p:nvPr>
        </p:nvSpPr>
        <p:spPr>
          <a:xfrm>
            <a:off x="311700" y="106925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Limitations</a:t>
            </a:r>
            <a:endParaRPr sz="5000"/>
          </a:p>
        </p:txBody>
      </p:sp>
      <p:sp>
        <p:nvSpPr>
          <p:cNvPr id="96" name="Google Shape;96;p20"/>
          <p:cNvSpPr txBox="1"/>
          <p:nvPr>
            <p:ph type="ctrTitle"/>
          </p:nvPr>
        </p:nvSpPr>
        <p:spPr>
          <a:xfrm>
            <a:off x="371075" y="3275650"/>
            <a:ext cx="8520600" cy="1771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Current ruleset is rudimentary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Natural language from pegasus &lt;-&gt; natural language ruleset &lt;-&gt; what happens in the video could potentially be improved with Merango</a:t>
            </a:r>
            <a:endParaRPr sz="2800"/>
          </a:p>
          <a:p>
            <a:pPr indent="-406400" lvl="0" marL="457200" rtl="0" algn="l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 sz="2800"/>
              <a:t>Natural language rulesetting enables high frequency iteration</a:t>
            </a:r>
            <a:endParaRPr sz="2800"/>
          </a:p>
          <a:p>
            <a:pPr indent="-406400" lvl="1" marL="914400" rtl="0" algn="l">
              <a:spcBef>
                <a:spcPts val="0"/>
              </a:spcBef>
              <a:spcAft>
                <a:spcPts val="0"/>
              </a:spcAft>
              <a:buSzPts val="2800"/>
              <a:buChar char="○"/>
            </a:pPr>
            <a:r>
              <a:rPr lang="en" sz="2800"/>
              <a:t>Not required to build a large CV dataset of annotated activities for each look angle</a:t>
            </a:r>
            <a:endParaRPr sz="2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1"/>
          <p:cNvSpPr txBox="1"/>
          <p:nvPr>
            <p:ph type="ctrTitle"/>
          </p:nvPr>
        </p:nvSpPr>
        <p:spPr>
          <a:xfrm>
            <a:off x="311700" y="0"/>
            <a:ext cx="8520600" cy="980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5000"/>
              <a:t>Performance</a:t>
            </a:r>
            <a:endParaRPr sz="5000"/>
          </a:p>
        </p:txBody>
      </p:sp>
      <p:sp>
        <p:nvSpPr>
          <p:cNvPr id="102" name="Google Shape;102;p21"/>
          <p:cNvSpPr txBox="1"/>
          <p:nvPr>
            <p:ph type="ctrTitle"/>
          </p:nvPr>
        </p:nvSpPr>
        <p:spPr>
          <a:xfrm>
            <a:off x="311700" y="3779350"/>
            <a:ext cx="8520600" cy="126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" sz="2600"/>
              <a:t>2 SARs were generated out of 4 total vehicles violating access authorization </a:t>
            </a:r>
            <a:r>
              <a:rPr b="1" lang="en" sz="2600"/>
              <a:t>50%</a:t>
            </a:r>
            <a:endParaRPr b="1" sz="2600"/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" sz="2600"/>
              <a:t>One of these SAR descriptions mentioned two </a:t>
            </a:r>
            <a:r>
              <a:rPr lang="en" sz="2600"/>
              <a:t>vehicles</a:t>
            </a:r>
            <a:r>
              <a:rPr lang="en" sz="2600"/>
              <a:t> violating access authorization </a:t>
            </a:r>
            <a:r>
              <a:rPr b="1" lang="en" sz="2600"/>
              <a:t>75%</a:t>
            </a:r>
            <a:r>
              <a:rPr lang="en" sz="2600"/>
              <a:t>?</a:t>
            </a:r>
            <a:endParaRPr sz="2600"/>
          </a:p>
          <a:p>
            <a:pPr indent="-393700" lvl="0" marL="457200" rtl="0" algn="l">
              <a:spcBef>
                <a:spcPts val="0"/>
              </a:spcBef>
              <a:spcAft>
                <a:spcPts val="0"/>
              </a:spcAft>
              <a:buSzPts val="2600"/>
              <a:buChar char="●"/>
            </a:pPr>
            <a:r>
              <a:rPr lang="en" sz="2600"/>
              <a:t>Two vehicles entered the campus on the roadway that was defined as approved access and no SARs were generated for these vehicles!</a:t>
            </a:r>
            <a:br>
              <a:rPr lang="en" sz="2600"/>
            </a:br>
            <a:endParaRPr sz="26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800">
                <a:solidFill>
                  <a:schemeClr val="dk2"/>
                </a:solidFill>
              </a:rPr>
              <a:t>Overall 4/6 (</a:t>
            </a:r>
            <a:r>
              <a:rPr b="1" lang="en" sz="2800">
                <a:solidFill>
                  <a:schemeClr val="dk2"/>
                </a:solidFill>
              </a:rPr>
              <a:t>66.67%</a:t>
            </a:r>
            <a:r>
              <a:rPr lang="en" sz="2800">
                <a:solidFill>
                  <a:schemeClr val="dk2"/>
                </a:solidFill>
              </a:rPr>
              <a:t>) or 5/6 (</a:t>
            </a:r>
            <a:r>
              <a:rPr b="1" lang="en" sz="2800">
                <a:solidFill>
                  <a:schemeClr val="dk2"/>
                </a:solidFill>
              </a:rPr>
              <a:t>83.33%</a:t>
            </a:r>
            <a:r>
              <a:rPr lang="en" sz="2800">
                <a:solidFill>
                  <a:schemeClr val="dk2"/>
                </a:solidFill>
              </a:rPr>
              <a:t>)  activities correctly identified.</a:t>
            </a:r>
            <a:endParaRPr sz="2600"/>
          </a:p>
        </p:txBody>
      </p:sp>
      <p:sp>
        <p:nvSpPr>
          <p:cNvPr id="103" name="Google Shape;103;p21"/>
          <p:cNvSpPr txBox="1"/>
          <p:nvPr/>
        </p:nvSpPr>
        <p:spPr>
          <a:xfrm>
            <a:off x="1312650" y="4025350"/>
            <a:ext cx="6518700" cy="62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109" name="Google Shape;109;p2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